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slide" Target="slides/slide7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3961" y="6693408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693408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885" y="0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1885" y="6693408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0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6693408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809" y="0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09" y="6693408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0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693408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733" y="0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7733" y="6693408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U-Logo-Naac-N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"/>
            <a:ext cx="3474720" cy="4935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2C57"/>
                </a:solidFill>
                <a:latin typeface="Arial"/>
              </a:rPr>
              <a:t>POWER BI FOR BEGINNERS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1E72BD"/>
                </a:solidFill>
                <a:latin typeface="Arial"/>
              </a:rPr>
              <a:t>FLIPKART E-COMMERCE SALES ANALYTICS DASHBOARD (SIMPLILEARN)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3790" y="3749039"/>
            <a:ext cx="2743200" cy="36576"/>
          </a:xfrm>
          <a:prstGeom prst="rect">
            <a:avLst/>
          </a:prstGeom>
          <a:solidFill>
            <a:srgbClr val="1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297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C57"/>
                </a:solidFill>
                <a:latin typeface="Arial"/>
              </a:rPr>
              <a:t>Presented by</a:t>
            </a:r>
          </a:p>
          <a:p>
            <a:pPr>
              <a:spcBef>
                <a:spcPts val="300"/>
              </a:spcBef>
            </a:pPr>
            <a:r>
              <a:rPr sz="1550" b="1">
                <a:solidFill>
                  <a:srgbClr val="212529"/>
                </a:solidFill>
                <a:latin typeface="Arial"/>
              </a:rPr>
              <a:t>Abhishek Rawat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46505F"/>
                </a:solidFill>
                <a:latin typeface="Arial"/>
              </a:rPr>
              <a:t>Roll No: 2401010038  |  5th Semester, 3rd Year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102C57"/>
                </a:solidFill>
                <a:latin typeface="Arial"/>
              </a:rPr>
              <a:t>Deptt. of Computer Science &amp; Engineering</a:t>
            </a:r>
          </a:p>
          <a:p>
            <a:pPr>
              <a:spcBef>
                <a:spcPts val="300"/>
              </a:spcBef>
            </a:pPr>
            <a:r>
              <a:rPr sz="1250" b="0">
                <a:solidFill>
                  <a:srgbClr val="46505F"/>
                </a:solidFill>
                <a:latin typeface="Arial"/>
              </a:rPr>
              <a:t>Uttaranchal Institute of Technology (UIT)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297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102C57"/>
                </a:solidFill>
                <a:latin typeface="Arial"/>
              </a:rPr>
              <a:t>Faculty Coordinator</a:t>
            </a:r>
          </a:p>
          <a:p>
            <a:pPr algn="r">
              <a:spcBef>
                <a:spcPts val="300"/>
              </a:spcBef>
            </a:pPr>
            <a:r>
              <a:rPr sz="1550" b="1">
                <a:solidFill>
                  <a:srgbClr val="212529"/>
                </a:solidFill>
                <a:latin typeface="Arial"/>
              </a:rPr>
              <a:t>Mr. Arpit Goel</a:t>
            </a:r>
          </a:p>
          <a:p>
            <a:pPr algn="r">
              <a:spcBef>
                <a:spcPts val="300"/>
              </a:spcBef>
            </a:pPr>
            <a:r>
              <a:rPr sz="1400" b="1">
                <a:solidFill>
                  <a:srgbClr val="1E72BD"/>
                </a:solidFill>
                <a:latin typeface="Arial"/>
              </a:rPr>
              <a:t>HOD, 3rd Year</a:t>
            </a:r>
          </a:p>
          <a:p>
            <a:pPr algn="r">
              <a:spcBef>
                <a:spcPts val="300"/>
              </a:spcBef>
            </a:pPr>
            <a:r>
              <a:rPr sz="1300" b="0">
                <a:solidFill>
                  <a:srgbClr val="46505F"/>
                </a:solidFill>
                <a:latin typeface="Arial"/>
              </a:rPr>
              <a:t>Deptt. of Computer Science &amp; Engineering</a:t>
            </a:r>
          </a:p>
          <a:p>
            <a:pPr algn="r">
              <a:spcBef>
                <a:spcPts val="300"/>
              </a:spcBef>
            </a:pPr>
            <a:r>
              <a:rPr sz="1350" b="1">
                <a:solidFill>
                  <a:srgbClr val="102C57"/>
                </a:solidFill>
                <a:latin typeface="Arial"/>
              </a:rPr>
              <a:t>Uttaranchal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3961" y="6693408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693408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885" y="0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1885" y="6693408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0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6693408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809" y="0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09" y="6693408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0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693408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733" y="0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7733" y="6693408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U-Logo-Naac-N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"/>
            <a:ext cx="3474720" cy="4935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7"/>
                </a:solidFill>
                <a:latin typeface="Arial"/>
              </a:rPr>
              <a:t>Outline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1097280"/>
            <a:ext cx="3200400" cy="36576"/>
          </a:xfrm>
          <a:prstGeom prst="rect">
            <a:avLst/>
          </a:prstGeom>
          <a:solidFill>
            <a:srgbClr val="1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1371600"/>
            <a:ext cx="10515600" cy="4937760"/>
          </a:xfrm>
          <a:prstGeom prst="roundRect">
            <a:avLst/>
          </a:prstGeom>
          <a:solidFill>
            <a:srgbClr val="F6F8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1. Introduction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2. Motivation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3. Review of Literature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4. Gap Analysis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5. Objectives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6. Proposed Methodology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7. Conclusion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02C57"/>
                </a:solidFill>
                <a:latin typeface="Arial"/>
              </a:rP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3961" y="6693408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693408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885" y="0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1885" y="6693408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0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6693408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809" y="0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09" y="6693408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0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693408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733" y="0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7733" y="6693408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U-Logo-Naac-N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"/>
            <a:ext cx="3474720" cy="4935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7"/>
                </a:solidFill>
                <a:latin typeface="Arial"/>
              </a:rPr>
              <a:t>1. Introduction, Motivation &amp; Objectives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1097280"/>
            <a:ext cx="3200400" cy="36576"/>
          </a:xfrm>
          <a:prstGeom prst="rect">
            <a:avLst/>
          </a:prstGeom>
          <a:solidFill>
            <a:srgbClr val="1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1371600"/>
            <a:ext cx="5120640" cy="2377440"/>
          </a:xfrm>
          <a:prstGeom prst="roundRect">
            <a:avLst/>
          </a:prstGeom>
          <a:solidFill>
            <a:srgbClr val="F6F8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14630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02C57"/>
                </a:solidFill>
              </a:rPr>
              <a:t>1. Introduction (Power BI &amp; Simplilearn)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• Microsoft Power BI: Enterprise analytics platform for end-to-end e-commerce business intelligence.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• Course Completion: 'Power BI for Beginners' certification completed via Simplilearn SkillUp.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• Ecosystem: Power Query (ETL) + Power BI Desktop (Modeling) + DAX metric calculations.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5120640" cy="2377440"/>
          </a:xfrm>
          <a:prstGeom prst="roundRect">
            <a:avLst/>
          </a:prstGeom>
          <a:solidFill>
            <a:srgbClr val="F0F6FF"/>
          </a:solidFill>
          <a:ln>
            <a:solidFill>
              <a:srgbClr val="1E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4630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E72BD"/>
                </a:solidFill>
              </a:rPr>
              <a:t>2. Motivation &amp; E-Commerce Scale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• Real-World Retail Data: Kaggle ‘Superstore Sales’ dataset spans multiple categories, regions and customer segments.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• Manual Analysis Gap: Spreadsheet-based analysis makes it hard to spot category and regional sales trends quickly.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• Practical Skill-Building: Apply Power BI skills on real data, styled after a familiar Indian e-commerce brand (Flipkart).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31920"/>
            <a:ext cx="10515600" cy="2377440"/>
          </a:xfrm>
          <a:prstGeom prst="roundRect">
            <a:avLst/>
          </a:prstGeom>
          <a:solidFill>
            <a:srgbClr val="F5FAF5"/>
          </a:solidFill>
          <a:ln>
            <a:solidFill>
              <a:srgbClr val="A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02336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46E32"/>
                </a:solidFill>
              </a:rPr>
              <a:t>3. Core Project Objectives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🎯 Automated ETL: Import and clean the Superstore sales dataset (nulls, data types) via Power Query.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🎯 Data Modeling: Structure the dataset as a clean single-table model ready for DAX measures.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🎯 DAX KPIs: Build Total Sales, Total Orders and Average Order Value measures.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🎯 Interactive Dashboard: Design a single-page, Flipkart-themed dashboard with Category, Region and Date slicers.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3961" y="6693408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693408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885" y="0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1885" y="6693408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0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6693408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809" y="0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09" y="6693408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0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693408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733" y="0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7733" y="6693408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U-Logo-Naac-N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"/>
            <a:ext cx="3474720" cy="4935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7"/>
                </a:solidFill>
                <a:latin typeface="Arial"/>
              </a:rPr>
              <a:t>2. Review of Literature &amp; Gap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1097280"/>
            <a:ext cx="3200400" cy="36576"/>
          </a:xfrm>
          <a:prstGeom prst="rect">
            <a:avLst/>
          </a:prstGeom>
          <a:solidFill>
            <a:srgbClr val="1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1371600"/>
            <a:ext cx="10515600" cy="1920240"/>
          </a:xfrm>
          <a:prstGeom prst="roundRect">
            <a:avLst/>
          </a:prstGeom>
          <a:solidFill>
            <a:srgbClr val="F6F8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146304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02C57"/>
                </a:solidFill>
              </a:rPr>
              <a:t>Review of Literature &amp; E-Commerce Landscape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12529"/>
                </a:solidFill>
              </a:rPr>
              <a:t>• Self-Service Analytics Evolution: Transitioning from rigid static tables to dynamic multi-axis visual dashboards.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12529"/>
                </a:solidFill>
              </a:rPr>
              <a:t>• Industry Recognition: Microsoft Power BI is consistently ranked among the leading BI platforms by industry analysts.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12529"/>
                </a:solidFill>
              </a:rPr>
              <a:t>• Prior Research: Yadav et al. (2024) and Murugan et al. (2024) show Power BI dashboards speed up retail decision-making versus manual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74720"/>
            <a:ext cx="5120640" cy="2834640"/>
          </a:xfrm>
          <a:prstGeom prst="roundRect">
            <a:avLst/>
          </a:prstGeom>
          <a:solidFill>
            <a:srgbClr val="FFF5F5"/>
          </a:solidFill>
          <a:ln>
            <a:solidFill>
              <a:srgbClr val="E6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6616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B42828"/>
                </a:solidFill>
              </a:rPr>
              <a:t>Traditional Spreadsheets (Excel)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✖ Row Limitations: Freezes and crashes when analyzing multi-table sets exceeding 1M rows.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✖ Manual Consolidation: VLOOKUP chains break easily upon modifying schema columns.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✖ No Cross-Filtering: Charts do not dynamically interact or synchronize filter contexts.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474720"/>
            <a:ext cx="5120640" cy="2834640"/>
          </a:xfrm>
          <a:prstGeom prst="roundRect">
            <a:avLst/>
          </a:prstGeom>
          <a:solidFill>
            <a:srgbClr val="F0FFF5"/>
          </a:solidFill>
          <a:ln>
            <a:solidFill>
              <a:srgbClr val="A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4823C"/>
                </a:solidFill>
              </a:rPr>
              <a:t>Modern Power BI Solution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✔ VertiPaq Engine: Highly compressed in-memory columnar storage scaling to millions of rows.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✔ Automated Power Query: Repeatable ETL steps automate data transformation upon refresh.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212529"/>
                </a:solidFill>
              </a:rPr>
              <a:t>✔ Context-Aware DAX: Dynamic calculations across multiple visual filter contexts in milliseconds.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3961" y="6693408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693408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885" y="0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1885" y="6693408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0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6693408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809" y="0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09" y="6693408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0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693408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733" y="0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7733" y="6693408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U-Logo-Naac-N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"/>
            <a:ext cx="3474720" cy="4935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7"/>
                </a:solidFill>
                <a:latin typeface="Arial"/>
              </a:rPr>
              <a:t>3. Methodology &amp; Conclusion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1097280"/>
            <a:ext cx="3200400" cy="36576"/>
          </a:xfrm>
          <a:prstGeom prst="rect">
            <a:avLst/>
          </a:prstGeom>
          <a:solidFill>
            <a:srgbClr val="1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1371600"/>
            <a:ext cx="3383280" cy="4937760"/>
          </a:xfrm>
          <a:prstGeom prst="roundRect">
            <a:avLst/>
          </a:prstGeom>
          <a:solidFill>
            <a:srgbClr val="F6F8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02C57"/>
                </a:solidFill>
              </a:rPr>
              <a:t>Proposed Methodology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1. Data Ingestion: Importing the Kaggle Superstore sales dataset (CSV) as the analysis source.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2. Power Query (M): Cleaning nulls and correcting data types before loading.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3. Data Modeling: Structuring the dataset into a clean single flat table (train) ready for analysis.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4. DAX Logic: Authoring Total Sales, Total Orders and Average Order Value measures.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5. Canvas Design: Building a single-page, Flipkart-themed interactive dashboard.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0F6FF"/>
          </a:solidFill>
          <a:ln>
            <a:solidFill>
              <a:srgbClr val="1E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E72BD"/>
                </a:solidFill>
              </a:rPr>
              <a:t>Dashboard Implementation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📊 Project: Flipkart E-Commerce Sales &amp; Customer Analytics Dashboard.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📊 Key Performance Cards: Total Sales, Total Orders and Average Order Value.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📊 Interactive Visuals: Category-wise bar chart, regional map, and monthly sales trend line.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12529"/>
                </a:solidFill>
              </a:rPr>
              <a:t>📊 Advanced Features: Slicers for Category, Region and Order Date, with a custom yellow-and-blue Flipkart-style theme.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371600"/>
            <a:ext cx="3383280" cy="4937760"/>
          </a:xfrm>
          <a:prstGeom prst="roundRect">
            <a:avLst/>
          </a:prstGeom>
          <a:solidFill>
            <a:srgbClr val="F6F8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02C57"/>
                </a:solidFill>
              </a:rPr>
              <a:t>Conclusion &amp; References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12529"/>
                </a:solidFill>
              </a:rPr>
              <a:t>Conclusion: Gained practical expertise in building large-scale e-commerce business intelligence dashboards.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12529"/>
                </a:solidFill>
              </a:rPr>
              <a:t>Future Scope: Real-time data integration, sales forecasting, and publishing to Power BI Service.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12529"/>
                </a:solidFill>
              </a:rPr>
              <a:t>References: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12529"/>
                </a:solidFill>
              </a:rPr>
              <a:t>• Yadav, Lakshmi &amp; Alekya (2024) – Retail Insights: E-commerce Dynamics with Power BI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12529"/>
                </a:solidFill>
              </a:rPr>
              <a:t>• Microsoft Power BI Documentation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12529"/>
                </a:solidFill>
              </a:rPr>
              <a:t>• Kaggle – Superstore Sales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3961" y="6693408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693408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885" y="0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1885" y="6693408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0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6693408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809" y="0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09" y="6693408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0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693408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733" y="0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7733" y="6693408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U-Logo-Naac-N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"/>
            <a:ext cx="3474720" cy="4935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0" y="201168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02C57"/>
                </a:solidFill>
                <a:latin typeface="Arial"/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1800" b="1">
                <a:solidFill>
                  <a:srgbClr val="1E72BD"/>
                </a:solidFill>
                <a:latin typeface="Arial"/>
              </a:rPr>
              <a:t>Questions &amp; Discussion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114800"/>
            <a:ext cx="7619695" cy="1828800"/>
          </a:xfrm>
          <a:prstGeom prst="roundRect">
            <a:avLst/>
          </a:prstGeom>
          <a:solidFill>
            <a:srgbClr val="F6F8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4251960"/>
            <a:ext cx="7223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2C57"/>
                </a:solidFill>
                <a:latin typeface="Arial"/>
              </a:rPr>
              <a:t>POWER BI FOR BEGINNERS | SIMPLILEARN SKILLUP</a:t>
            </a:r>
          </a:p>
          <a:p>
            <a:pPr algn="ctr">
              <a:spcBef>
                <a:spcPts val="400"/>
              </a:spcBef>
            </a:pPr>
            <a:r>
              <a:rPr sz="1250">
                <a:solidFill>
                  <a:srgbClr val="212529"/>
                </a:solidFill>
                <a:latin typeface="Arial"/>
              </a:rPr>
              <a:t>Presented by: Abhishek Rawat   |   Submitted to: Mr. Arpit Goel (HOD, 3rd Year)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46505F"/>
                </a:solidFill>
                <a:latin typeface="Arial"/>
              </a:rPr>
              <a:t>Deptt. of Computer Science &amp; Engineering  •  Uttaranchal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569681" cy="164592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3961" y="6693408"/>
            <a:ext cx="1569681" cy="164592"/>
          </a:xfrm>
          <a:prstGeom prst="rect">
            <a:avLst/>
          </a:prstGeom>
          <a:solidFill>
            <a:srgbClr val="F5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7923" y="6693408"/>
            <a:ext cx="1569681" cy="164592"/>
          </a:xfrm>
          <a:prstGeom prst="rect">
            <a:avLst/>
          </a:prstGeom>
          <a:solidFill>
            <a:srgbClr val="F0C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1885" y="0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1885" y="6693408"/>
            <a:ext cx="1569681" cy="164592"/>
          </a:xfrm>
          <a:prstGeom prst="rect">
            <a:avLst/>
          </a:prstGeom>
          <a:solidFill>
            <a:srgbClr val="46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0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6693408"/>
            <a:ext cx="1569681" cy="164592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809" y="0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09" y="6693408"/>
            <a:ext cx="1569681" cy="164592"/>
          </a:xfrm>
          <a:prstGeom prst="rect">
            <a:avLst/>
          </a:prstGeom>
          <a:solidFill>
            <a:srgbClr val="96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71" y="0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771" y="6693408"/>
            <a:ext cx="1569681" cy="164592"/>
          </a:xfrm>
          <a:prstGeom prst="rect">
            <a:avLst/>
          </a:prstGeom>
          <a:solidFill>
            <a:srgbClr val="64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7733" y="0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7733" y="6693408"/>
            <a:ext cx="1569681" cy="164592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64592"/>
            <a:ext cx="137160" cy="6528816"/>
          </a:xfrm>
          <a:prstGeom prst="rect">
            <a:avLst/>
          </a:prstGeom>
          <a:solidFill>
            <a:srgbClr val="7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51792" y="164592"/>
            <a:ext cx="137160" cy="6528816"/>
          </a:xfrm>
          <a:prstGeom prst="rect">
            <a:avLst/>
          </a:prstGeom>
          <a:solidFill>
            <a:srgbClr val="3C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U-Logo-Naac-N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"/>
            <a:ext cx="3474720" cy="4935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36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7"/>
                </a:solidFill>
                <a:latin typeface="Arial"/>
              </a:rPr>
              <a:t>Dashboard Walkthrough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1097280"/>
            <a:ext cx="3200400" cy="36576"/>
          </a:xfrm>
          <a:prstGeom prst="rect">
            <a:avLst/>
          </a:prstGeom>
          <a:solidFill>
            <a:srgbClr val="1E7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1371600"/>
            <a:ext cx="10515600" cy="4937760"/>
          </a:xfrm>
          <a:prstGeom prst="roundRect">
            <a:avLst/>
          </a:prstGeom>
          <a:solidFill>
            <a:srgbClr val="F6F8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98" y="1621600"/>
            <a:ext cx="7906925" cy="44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